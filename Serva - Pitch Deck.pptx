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($M)</c:v>
                </c:pt>
              </c:strCache>
            </c:strRef>
          </c:tx>
          <c:spPr>
            <a:solidFill>
              <a:srgbClr val="4A6C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0.58</c:v>
                </c:pt>
                <c:pt idx="1">
                  <c:v>8.2</c:v>
                </c:pt>
                <c:pt idx="2">
                  <c:v>52</c:v>
                </c:pt>
                <c:pt idx="3">
                  <c:v>165</c:v>
                </c:pt>
                <c:pt idx="4">
                  <c:v>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D457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A315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6CF7"/>
              </a:solidFill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bubble3D val="0"/>
            <c:spPr>
              <a:solidFill>
                <a:srgbClr val="EC489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Engineering (43%)</c:v>
                </c:pt>
                <c:pt idx="1">
                  <c:v>Sales &amp; BD (20%)</c:v>
                </c:pt>
                <c:pt idx="2">
                  <c:v>Marketing (17%)</c:v>
                </c:pt>
                <c:pt idx="3">
                  <c:v>Operations (11%)</c:v>
                </c:pt>
                <c:pt idx="4">
                  <c:v>Legal &amp; Infra (9%)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43</c:v>
                </c:pt>
                <c:pt idx="1">
                  <c:v>20</c:v>
                </c:pt>
                <c:pt idx="2">
                  <c:v>17</c:v>
                </c:pt>
                <c:pt idx="3">
                  <c:v>11</c:v>
                </c:pt>
                <c:pt idx="4">
                  <c:v>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image" Target="../media/image-9-5.png"/><Relationship Id="rId7" Type="http://schemas.openxmlformats.org/officeDocument/2006/relationships/image" Target="../media/image-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840480"/>
            <a:ext cx="365760" cy="1303020"/>
          </a:xfrm>
          <a:prstGeom prst="rect">
            <a:avLst/>
          </a:prstGeom>
          <a:solidFill>
            <a:srgbClr val="4A6CF7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serva.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B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Anything. Pay Seamlessly.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universal marketplace for appointment-based services.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 |  $3.5M  | 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a service today is broken for everyone.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749040" cy="31089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Consumers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different apps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book across service types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Re-enter information every time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address, health history, preferences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calls during business hours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of consumers want to book after hours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payment or history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receipts and confirmations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749040" cy="310896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554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Businesses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0574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$150+/month on fragmented tools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scheduling, website, payments, marketing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10-15% revenue lost to no-shows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deposit system or automated reminders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online discovery channel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relying on word-of-mouth and Google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intake &amp; manual processes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clipboards, phone tag, cash registers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Every service. Seamless booking &amp; payment.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828800" cy="2560320"/>
          </a:xfrm>
          <a:prstGeom prst="rect">
            <a:avLst/>
          </a:prstGeom>
          <a:solidFill>
            <a:srgbClr val="2A315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1783080"/>
            <a:ext cx="731520" cy="731520"/>
          </a:xfrm>
          <a:prstGeom prst="ellipse">
            <a:avLst/>
          </a:prstGeom>
          <a:solidFill>
            <a:srgbClr val="4A6C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920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32461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service, category, location, rating, or price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0" y="1554480"/>
            <a:ext cx="1828800" cy="2560320"/>
          </a:xfrm>
          <a:prstGeom prst="rect">
            <a:avLst/>
          </a:prstGeom>
          <a:solidFill>
            <a:srgbClr val="2A315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783080"/>
            <a:ext cx="731520" cy="731520"/>
          </a:xfrm>
          <a:prstGeom prst="ellipse">
            <a:avLst/>
          </a:prstGeom>
          <a:solidFill>
            <a:srgbClr val="4A6CF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202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4320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74320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880360" y="32461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service, select a time slot from real-time availability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846320" y="1554480"/>
            <a:ext cx="1828800" cy="2560320"/>
          </a:xfrm>
          <a:prstGeom prst="rect">
            <a:avLst/>
          </a:prstGeom>
          <a:solidFill>
            <a:srgbClr val="2A315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94960" y="1783080"/>
            <a:ext cx="731520" cy="731520"/>
          </a:xfrm>
          <a:prstGeom prst="ellipse">
            <a:avLst/>
          </a:prstGeom>
          <a:solidFill>
            <a:srgbClr val="4A6CF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9202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4632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983480" y="32461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out custom forms digitally before your appointment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949440" y="1554480"/>
            <a:ext cx="1828800" cy="2560320"/>
          </a:xfrm>
          <a:prstGeom prst="rect">
            <a:avLst/>
          </a:prstGeom>
          <a:solidFill>
            <a:srgbClr val="2A315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498080" y="1783080"/>
            <a:ext cx="731520" cy="731520"/>
          </a:xfrm>
          <a:prstGeom prst="ellipse">
            <a:avLst/>
          </a:prstGeom>
          <a:solidFill>
            <a:srgbClr val="4A6CF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92024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4944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94944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086600" y="32461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payment. One tap. Receipt in your pocket.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2194560" y="2560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4297680" y="2560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6400800" y="2560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64008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businesses to list. Consumers pay at booking.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2011680" cy="201168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$1.5T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appointment-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service spend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0" y="1188720"/>
            <a:ext cx="2011680" cy="2011680"/>
          </a:xfrm>
          <a:prstGeom prst="ellipse">
            <a:avLst/>
          </a:prstGeom>
          <a:solidFill>
            <a:srgbClr val="C7D2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1783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$280B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appointment-based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spend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0" y="1188720"/>
            <a:ext cx="2011680" cy="201168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1783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$4.2B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94360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Serva 5-year capture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launched cities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Tailwinds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1828800" cy="914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consumers prefer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booking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0" y="3931920"/>
            <a:ext cx="1828800" cy="914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43200" y="4389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bookings happen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business hours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3931920"/>
            <a:ext cx="1828800" cy="914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12.1%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46320" y="4389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market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through 2030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0" y="3931920"/>
            <a:ext cx="1828800" cy="914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49440" y="4389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payments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by 2030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revenue streams. Aligned incentives.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228600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Fees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560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 on every booking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 through Serva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154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~$2.13 per booking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1463040"/>
            <a:ext cx="1920240" cy="228600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6459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697480" y="2560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($49), Business ($149),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($299)/month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606040" y="3154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target conversion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1463040"/>
            <a:ext cx="1920240" cy="228600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4592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Promoted Listings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46320" y="2560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Pay-per-click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pay-per-booking ads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754880" y="3154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Cost-per-result model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03720" y="1463040"/>
            <a:ext cx="1920240" cy="228600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64592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Margin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95160" y="2560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margin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volume-negotiated rates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903720" y="3154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0.3-0.5% per transaction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0080" y="4023360"/>
            <a:ext cx="7863840" cy="8686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" y="41148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2743200" y="4069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274320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Booking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3931920" y="4069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$2.47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393192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Rev/Booking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120640" y="4069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512064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309360" y="4069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630936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(12mo)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7498080" y="4069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4.1x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749808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LTV:CAC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solutions exist. No one owns horizontal.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22860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05840"/>
                <a:gridCol w="109728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Verticals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Payments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Intake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Free Tier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</a:rPr>
                        <a:t>Zocdoc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Healthcare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</a:rPr>
                        <a:t>Mindbody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Fitness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</a:rPr>
                        <a:t>Booksy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Beauty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</a:rPr>
                        <a:t>Thumbtack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Home Svcs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6CF7"/>
                          </a:solidFill>
                        </a:rPr>
                        <a:t>SERVA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6CF7"/>
                          </a:solidFill>
                        </a:rPr>
                        <a:t>ALL 800+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Moat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389120"/>
            <a:ext cx="1828800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Effects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Cross-side growth loop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51760" y="4389120"/>
            <a:ext cx="1828800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Advantage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65176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Richest cross-vertical data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4389120"/>
            <a:ext cx="1828800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Costs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6344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History, intake, payments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675120" y="4389120"/>
            <a:ext cx="1828800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Lock-in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7512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+ CRM + reviews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 Strategy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industries. One city at a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320040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920240" cy="5486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1–6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providers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onboarded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 active users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90 days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major verticals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463040"/>
            <a:ext cx="1920240" cy="320040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463040"/>
            <a:ext cx="1920240" cy="54864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Density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0604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6–12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256032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2,000+ providers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bookings/user/mo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Pro conversion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1920240" cy="320040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463040"/>
            <a:ext cx="1920240" cy="54864"/>
          </a:xfrm>
          <a:prstGeom prst="rect">
            <a:avLst/>
          </a:prstGeom>
          <a:solidFill>
            <a:srgbClr val="A5B4FC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12–24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56032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new cities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simultaneously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clusters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chain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463040"/>
            <a:ext cx="1920240" cy="3200400"/>
          </a:xfrm>
          <a:prstGeom prst="rect">
            <a:avLst/>
          </a:prstGeom>
          <a:solidFill>
            <a:srgbClr val="4A6CF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463040"/>
            <a:ext cx="192024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Scale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0372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24–36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86600" y="256032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cities live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organic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begins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Projections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88720"/>
            <a:ext cx="2926080" cy="640080"/>
          </a:xfrm>
          <a:prstGeom prst="rect">
            <a:avLst/>
          </a:prstGeom>
          <a:solidFill>
            <a:srgbClr val="2A3158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1188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$52M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0" y="1188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Year 3 Revenue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Profitable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60720" y="1965960"/>
            <a:ext cx="2926080" cy="640080"/>
          </a:xfrm>
          <a:prstGeom prst="rect">
            <a:avLst/>
          </a:prstGeom>
          <a:solidFill>
            <a:srgbClr val="2A3158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965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$380M+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0" y="19659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Year 5 Revenue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75+ cities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2743200"/>
            <a:ext cx="2926080" cy="640080"/>
          </a:xfrm>
          <a:prstGeom prst="rect">
            <a:avLst/>
          </a:prstGeom>
          <a:solidFill>
            <a:srgbClr val="2A3158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2743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$95M+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31520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Year 5 EBITDA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25% margin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60720" y="3520440"/>
            <a:ext cx="2926080" cy="640080"/>
          </a:xfrm>
          <a:prstGeom prst="rect">
            <a:avLst/>
          </a:prstGeom>
          <a:solidFill>
            <a:srgbClr val="2A3158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3520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$3B+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315200" y="35204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Gross Booking Value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Year 5 GBV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profitability in Year 3. Break-even at city level within 12 months of launch.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$3.5M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 |  18-Month Runway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0" y="7315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Milestones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7180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in first city with 500+ providers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9184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monthly active users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1188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$6.4M annual gross booking value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3192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Pro subscription conversion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5196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012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proven for multi-city expansion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57200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60120" y="4526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ready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serva.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appointment-based commerce.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3657600" cy="18288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 Beaumont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Beaumont Consulting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jed@beaumontconsulting.co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Serva - Investor Pitch Deck</dc:title>
  <dc:subject>PptxGenJS Presentation</dc:subject>
  <dc:creator>Beaumont Consulting</dc:creator>
  <cp:lastModifiedBy>Beaumont Consulting</cp:lastModifiedBy>
  <cp:revision>1</cp:revision>
  <dcterms:created xsi:type="dcterms:W3CDTF">2026-04-14T00:48:20Z</dcterms:created>
  <dcterms:modified xsi:type="dcterms:W3CDTF">2026-04-14T00:48:20Z</dcterms:modified>
</cp:coreProperties>
</file>